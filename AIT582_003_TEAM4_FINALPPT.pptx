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sldIdLst>
    <p:sldId id="256" r:id="rId2"/>
    <p:sldId id="271" r:id="rId3"/>
    <p:sldId id="272" r:id="rId4"/>
    <p:sldId id="273" r:id="rId5"/>
    <p:sldId id="257" r:id="rId6"/>
    <p:sldId id="260" r:id="rId7"/>
    <p:sldId id="274" r:id="rId8"/>
    <p:sldId id="261" r:id="rId9"/>
    <p:sldId id="279" r:id="rId10"/>
    <p:sldId id="280" r:id="rId11"/>
    <p:sldId id="281" r:id="rId12"/>
    <p:sldId id="282" r:id="rId13"/>
    <p:sldId id="283" r:id="rId14"/>
    <p:sldId id="285" r:id="rId15"/>
    <p:sldId id="286" r:id="rId16"/>
    <p:sldId id="287" r:id="rId17"/>
    <p:sldId id="284" r:id="rId18"/>
    <p:sldId id="28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3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8F1C2F-A5E1-4B86-8EE0-086C9B565DF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5757F4-44DF-4CB8-B21E-234C3A47B9F1}">
      <dgm:prSet/>
      <dgm:spPr/>
      <dgm:t>
        <a:bodyPr/>
        <a:lstStyle/>
        <a:p>
          <a:pPr>
            <a:defRPr b="1"/>
          </a:pPr>
          <a:r>
            <a:rPr lang="en-US"/>
            <a:t>Auto insurance fraud costs billions of dollars annually, leading to higher premiums for honest customers and major losses for companies.</a:t>
          </a:r>
        </a:p>
      </dgm:t>
    </dgm:pt>
    <dgm:pt modelId="{D037E58A-FD6F-443C-909A-EB437BDF2D1B}" type="parTrans" cxnId="{54C3FF08-E4AD-459B-A420-CEF079990863}">
      <dgm:prSet/>
      <dgm:spPr/>
      <dgm:t>
        <a:bodyPr/>
        <a:lstStyle/>
        <a:p>
          <a:endParaRPr lang="en-US"/>
        </a:p>
      </dgm:t>
    </dgm:pt>
    <dgm:pt modelId="{79BB9009-466A-47FA-9165-6B733784FB7D}" type="sibTrans" cxnId="{54C3FF08-E4AD-459B-A420-CEF079990863}">
      <dgm:prSet/>
      <dgm:spPr/>
      <dgm:t>
        <a:bodyPr/>
        <a:lstStyle/>
        <a:p>
          <a:endParaRPr lang="en-US"/>
        </a:p>
      </dgm:t>
    </dgm:pt>
    <dgm:pt modelId="{7BC938D0-AD1F-4EFE-934B-8D6D42850862}">
      <dgm:prSet/>
      <dgm:spPr/>
      <dgm:t>
        <a:bodyPr/>
        <a:lstStyle/>
        <a:p>
          <a:pPr>
            <a:defRPr b="1"/>
          </a:pPr>
          <a:r>
            <a:rPr lang="en-US"/>
            <a:t>Traditional fraud detection methods, such as manual audits and rule-based systems, are slow, error-prone, and unable to adapt to evolving fraud tactics.</a:t>
          </a:r>
        </a:p>
      </dgm:t>
    </dgm:pt>
    <dgm:pt modelId="{05A6CD35-CCC9-48BF-AA9E-A53AECB9EFED}" type="parTrans" cxnId="{26BAD121-503D-4983-917A-F0B2D7B0C364}">
      <dgm:prSet/>
      <dgm:spPr/>
      <dgm:t>
        <a:bodyPr/>
        <a:lstStyle/>
        <a:p>
          <a:endParaRPr lang="en-US"/>
        </a:p>
      </dgm:t>
    </dgm:pt>
    <dgm:pt modelId="{D17D2310-F2F3-442B-91DF-E6F4377EA07F}" type="sibTrans" cxnId="{26BAD121-503D-4983-917A-F0B2D7B0C364}">
      <dgm:prSet/>
      <dgm:spPr/>
      <dgm:t>
        <a:bodyPr/>
        <a:lstStyle/>
        <a:p>
          <a:endParaRPr lang="en-US"/>
        </a:p>
      </dgm:t>
    </dgm:pt>
    <dgm:pt modelId="{3500975B-9923-4120-BAD8-FE1224F6FE18}">
      <dgm:prSet/>
      <dgm:spPr/>
      <dgm:t>
        <a:bodyPr/>
        <a:lstStyle/>
        <a:p>
          <a:pPr>
            <a:defRPr b="1"/>
          </a:pPr>
          <a:r>
            <a:rPr lang="en-US" b="1"/>
            <a:t>The rise of big data and machine learning provides a smarter way to detect hidden patterns using structured metadata like:</a:t>
          </a:r>
          <a:endParaRPr lang="en-US"/>
        </a:p>
      </dgm:t>
    </dgm:pt>
    <dgm:pt modelId="{43BCA940-58BA-41A2-8BAD-EDF14F815494}" type="parTrans" cxnId="{88EDC658-0FC6-4627-92D1-CF4D68004B0A}">
      <dgm:prSet/>
      <dgm:spPr/>
      <dgm:t>
        <a:bodyPr/>
        <a:lstStyle/>
        <a:p>
          <a:endParaRPr lang="en-US"/>
        </a:p>
      </dgm:t>
    </dgm:pt>
    <dgm:pt modelId="{C74C1351-9029-42A8-B9E2-D09E8A2725B3}" type="sibTrans" cxnId="{88EDC658-0FC6-4627-92D1-CF4D68004B0A}">
      <dgm:prSet/>
      <dgm:spPr/>
      <dgm:t>
        <a:bodyPr/>
        <a:lstStyle/>
        <a:p>
          <a:endParaRPr lang="en-US"/>
        </a:p>
      </dgm:t>
    </dgm:pt>
    <dgm:pt modelId="{29942D05-B80C-4837-8BB8-B26FCA27900F}">
      <dgm:prSet/>
      <dgm:spPr/>
      <dgm:t>
        <a:bodyPr/>
        <a:lstStyle/>
        <a:p>
          <a:r>
            <a:rPr lang="en-US"/>
            <a:t>Policyholder demographics</a:t>
          </a:r>
        </a:p>
      </dgm:t>
    </dgm:pt>
    <dgm:pt modelId="{9624D2DB-3FDF-4607-8EFB-B1E5244AF21A}" type="parTrans" cxnId="{6F911F4B-7825-40E9-9724-0DCF12ED97D3}">
      <dgm:prSet/>
      <dgm:spPr/>
      <dgm:t>
        <a:bodyPr/>
        <a:lstStyle/>
        <a:p>
          <a:endParaRPr lang="en-US"/>
        </a:p>
      </dgm:t>
    </dgm:pt>
    <dgm:pt modelId="{34126E55-A870-4B19-9596-03917BA13847}" type="sibTrans" cxnId="{6F911F4B-7825-40E9-9724-0DCF12ED97D3}">
      <dgm:prSet/>
      <dgm:spPr/>
      <dgm:t>
        <a:bodyPr/>
        <a:lstStyle/>
        <a:p>
          <a:endParaRPr lang="en-US"/>
        </a:p>
      </dgm:t>
    </dgm:pt>
    <dgm:pt modelId="{A599091E-CE8C-4AC0-B18A-9F46ACAE1922}">
      <dgm:prSet/>
      <dgm:spPr/>
      <dgm:t>
        <a:bodyPr/>
        <a:lstStyle/>
        <a:p>
          <a:r>
            <a:rPr lang="en-US"/>
            <a:t>Vehicle and accident information</a:t>
          </a:r>
        </a:p>
      </dgm:t>
    </dgm:pt>
    <dgm:pt modelId="{131CA67B-750B-4C01-AEA0-49D4281DB553}" type="parTrans" cxnId="{D1E2498E-50AD-4842-BEE4-805595FC959E}">
      <dgm:prSet/>
      <dgm:spPr/>
      <dgm:t>
        <a:bodyPr/>
        <a:lstStyle/>
        <a:p>
          <a:endParaRPr lang="en-US"/>
        </a:p>
      </dgm:t>
    </dgm:pt>
    <dgm:pt modelId="{4F9563E3-59FE-4809-9776-4BDB03A86466}" type="sibTrans" cxnId="{D1E2498E-50AD-4842-BEE4-805595FC959E}">
      <dgm:prSet/>
      <dgm:spPr/>
      <dgm:t>
        <a:bodyPr/>
        <a:lstStyle/>
        <a:p>
          <a:endParaRPr lang="en-US"/>
        </a:p>
      </dgm:t>
    </dgm:pt>
    <dgm:pt modelId="{6952797A-5070-4E63-A211-B4167C5A30E1}">
      <dgm:prSet/>
      <dgm:spPr/>
      <dgm:t>
        <a:bodyPr/>
        <a:lstStyle/>
        <a:p>
          <a:r>
            <a:rPr lang="en-US"/>
            <a:t>Claim histories</a:t>
          </a:r>
        </a:p>
      </dgm:t>
    </dgm:pt>
    <dgm:pt modelId="{A0C2B7F6-AEE7-46BE-92FC-52F572CC092E}" type="parTrans" cxnId="{E9B77166-0443-47E8-B77E-46174907A76C}">
      <dgm:prSet/>
      <dgm:spPr/>
      <dgm:t>
        <a:bodyPr/>
        <a:lstStyle/>
        <a:p>
          <a:endParaRPr lang="en-US"/>
        </a:p>
      </dgm:t>
    </dgm:pt>
    <dgm:pt modelId="{529F05CF-437B-4F3C-B3C4-C6B28EA8EE59}" type="sibTrans" cxnId="{E9B77166-0443-47E8-B77E-46174907A76C}">
      <dgm:prSet/>
      <dgm:spPr/>
      <dgm:t>
        <a:bodyPr/>
        <a:lstStyle/>
        <a:p>
          <a:endParaRPr lang="en-US"/>
        </a:p>
      </dgm:t>
    </dgm:pt>
    <dgm:pt modelId="{232BBC39-1A9D-40C9-8D70-40A6E93C9273}">
      <dgm:prSet/>
      <dgm:spPr/>
      <dgm:t>
        <a:bodyPr/>
        <a:lstStyle/>
        <a:p>
          <a:pPr>
            <a:defRPr b="1"/>
          </a:pPr>
          <a:r>
            <a:rPr lang="en-US" b="1"/>
            <a:t>Our project uses machine learning models to classify insurance claims as fraudulent or legitimate, aiming to:</a:t>
          </a:r>
          <a:endParaRPr lang="en-US"/>
        </a:p>
      </dgm:t>
    </dgm:pt>
    <dgm:pt modelId="{7440C343-4A6C-4958-AA16-B8A677C18A58}" type="parTrans" cxnId="{53739A72-0DE4-4914-992F-6B1530636185}">
      <dgm:prSet/>
      <dgm:spPr/>
      <dgm:t>
        <a:bodyPr/>
        <a:lstStyle/>
        <a:p>
          <a:endParaRPr lang="en-US"/>
        </a:p>
      </dgm:t>
    </dgm:pt>
    <dgm:pt modelId="{DE4FE4D2-6083-48FC-911F-12500B4E5A1D}" type="sibTrans" cxnId="{53739A72-0DE4-4914-992F-6B1530636185}">
      <dgm:prSet/>
      <dgm:spPr/>
      <dgm:t>
        <a:bodyPr/>
        <a:lstStyle/>
        <a:p>
          <a:endParaRPr lang="en-US"/>
        </a:p>
      </dgm:t>
    </dgm:pt>
    <dgm:pt modelId="{35E55890-4456-4029-8BDF-D9FB2D606144}">
      <dgm:prSet/>
      <dgm:spPr/>
      <dgm:t>
        <a:bodyPr/>
        <a:lstStyle/>
        <a:p>
          <a:r>
            <a:rPr lang="en-US"/>
            <a:t>Reduce financial losses</a:t>
          </a:r>
        </a:p>
      </dgm:t>
    </dgm:pt>
    <dgm:pt modelId="{0C7D2AD6-7086-4784-94F7-24C749F75D31}" type="parTrans" cxnId="{CF5729FC-6597-43D6-8B7B-6BA3137E5E9A}">
      <dgm:prSet/>
      <dgm:spPr/>
      <dgm:t>
        <a:bodyPr/>
        <a:lstStyle/>
        <a:p>
          <a:endParaRPr lang="en-US"/>
        </a:p>
      </dgm:t>
    </dgm:pt>
    <dgm:pt modelId="{D1B698EF-79ED-42BC-83B6-3847C6056E37}" type="sibTrans" cxnId="{CF5729FC-6597-43D6-8B7B-6BA3137E5E9A}">
      <dgm:prSet/>
      <dgm:spPr/>
      <dgm:t>
        <a:bodyPr/>
        <a:lstStyle/>
        <a:p>
          <a:endParaRPr lang="en-US"/>
        </a:p>
      </dgm:t>
    </dgm:pt>
    <dgm:pt modelId="{9D0572DF-578C-4425-958C-9235697E3CA6}">
      <dgm:prSet/>
      <dgm:spPr/>
      <dgm:t>
        <a:bodyPr/>
        <a:lstStyle/>
        <a:p>
          <a:r>
            <a:rPr lang="en-US"/>
            <a:t>Speed up claim processing</a:t>
          </a:r>
        </a:p>
      </dgm:t>
    </dgm:pt>
    <dgm:pt modelId="{C5E807CE-FB8F-429A-B176-96B2283EE869}" type="parTrans" cxnId="{1A1F46D6-DD83-4388-8CFE-A0C77271B84F}">
      <dgm:prSet/>
      <dgm:spPr/>
      <dgm:t>
        <a:bodyPr/>
        <a:lstStyle/>
        <a:p>
          <a:endParaRPr lang="en-US"/>
        </a:p>
      </dgm:t>
    </dgm:pt>
    <dgm:pt modelId="{46641DA6-57F4-482F-8D86-F3644BD8726F}" type="sibTrans" cxnId="{1A1F46D6-DD83-4388-8CFE-A0C77271B84F}">
      <dgm:prSet/>
      <dgm:spPr/>
      <dgm:t>
        <a:bodyPr/>
        <a:lstStyle/>
        <a:p>
          <a:endParaRPr lang="en-US"/>
        </a:p>
      </dgm:t>
    </dgm:pt>
    <dgm:pt modelId="{212D6F94-D66F-49C2-9608-A5215C104C72}">
      <dgm:prSet/>
      <dgm:spPr/>
      <dgm:t>
        <a:bodyPr/>
        <a:lstStyle/>
        <a:p>
          <a:r>
            <a:rPr lang="en-US"/>
            <a:t>Protect the integrity of the insurance industry</a:t>
          </a:r>
        </a:p>
      </dgm:t>
    </dgm:pt>
    <dgm:pt modelId="{275EC373-545C-4C8E-BB1C-D95C250092F3}" type="parTrans" cxnId="{B883562D-B751-4821-A714-AA4C1F89D521}">
      <dgm:prSet/>
      <dgm:spPr/>
      <dgm:t>
        <a:bodyPr/>
        <a:lstStyle/>
        <a:p>
          <a:endParaRPr lang="en-US"/>
        </a:p>
      </dgm:t>
    </dgm:pt>
    <dgm:pt modelId="{C678FFB8-A614-4356-A56A-8AB14F0F5C35}" type="sibTrans" cxnId="{B883562D-B751-4821-A714-AA4C1F89D521}">
      <dgm:prSet/>
      <dgm:spPr/>
      <dgm:t>
        <a:bodyPr/>
        <a:lstStyle/>
        <a:p>
          <a:endParaRPr lang="en-US"/>
        </a:p>
      </dgm:t>
    </dgm:pt>
    <dgm:pt modelId="{3EC32D8E-3C97-414A-AC33-C81C9BAC6E5E}" type="pres">
      <dgm:prSet presAssocID="{368F1C2F-A5E1-4B86-8EE0-086C9B565DF9}" presName="root" presStyleCnt="0">
        <dgm:presLayoutVars>
          <dgm:dir/>
          <dgm:resizeHandles val="exact"/>
        </dgm:presLayoutVars>
      </dgm:prSet>
      <dgm:spPr/>
    </dgm:pt>
    <dgm:pt modelId="{E076E52B-5CF2-40D9-B6C3-10E1BDC8E7E4}" type="pres">
      <dgm:prSet presAssocID="{AD5757F4-44DF-4CB8-B21E-234C3A47B9F1}" presName="compNode" presStyleCnt="0"/>
      <dgm:spPr/>
    </dgm:pt>
    <dgm:pt modelId="{5C191BFE-49A9-4FA8-ABCE-E8EB61FCF045}" type="pres">
      <dgm:prSet presAssocID="{AD5757F4-44DF-4CB8-B21E-234C3A47B9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A899ACB-6A32-43E0-8F19-1A8D2537B0FC}" type="pres">
      <dgm:prSet presAssocID="{AD5757F4-44DF-4CB8-B21E-234C3A47B9F1}" presName="iconSpace" presStyleCnt="0"/>
      <dgm:spPr/>
    </dgm:pt>
    <dgm:pt modelId="{AB18E736-8B34-437B-9F7E-50D3C0030E6D}" type="pres">
      <dgm:prSet presAssocID="{AD5757F4-44DF-4CB8-B21E-234C3A47B9F1}" presName="parTx" presStyleLbl="revTx" presStyleIdx="0" presStyleCnt="8">
        <dgm:presLayoutVars>
          <dgm:chMax val="0"/>
          <dgm:chPref val="0"/>
        </dgm:presLayoutVars>
      </dgm:prSet>
      <dgm:spPr/>
    </dgm:pt>
    <dgm:pt modelId="{E6FFFE02-EBA7-4BA1-8743-5E97CB2EA935}" type="pres">
      <dgm:prSet presAssocID="{AD5757F4-44DF-4CB8-B21E-234C3A47B9F1}" presName="txSpace" presStyleCnt="0"/>
      <dgm:spPr/>
    </dgm:pt>
    <dgm:pt modelId="{256C80D4-4B07-44D6-A64C-D249543EAF5C}" type="pres">
      <dgm:prSet presAssocID="{AD5757F4-44DF-4CB8-B21E-234C3A47B9F1}" presName="desTx" presStyleLbl="revTx" presStyleIdx="1" presStyleCnt="8">
        <dgm:presLayoutVars/>
      </dgm:prSet>
      <dgm:spPr/>
    </dgm:pt>
    <dgm:pt modelId="{8665BDA4-9F6D-4E92-A189-14E92DEA07F9}" type="pres">
      <dgm:prSet presAssocID="{79BB9009-466A-47FA-9165-6B733784FB7D}" presName="sibTrans" presStyleCnt="0"/>
      <dgm:spPr/>
    </dgm:pt>
    <dgm:pt modelId="{0D7CC3C0-839C-49AD-BA71-9975462FE658}" type="pres">
      <dgm:prSet presAssocID="{7BC938D0-AD1F-4EFE-934B-8D6D42850862}" presName="compNode" presStyleCnt="0"/>
      <dgm:spPr/>
    </dgm:pt>
    <dgm:pt modelId="{5275D2FC-009F-47E4-B080-1B68A0FF9439}" type="pres">
      <dgm:prSet presAssocID="{7BC938D0-AD1F-4EFE-934B-8D6D428508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C982B66-D93A-4D59-B39E-DA718D44390C}" type="pres">
      <dgm:prSet presAssocID="{7BC938D0-AD1F-4EFE-934B-8D6D42850862}" presName="iconSpace" presStyleCnt="0"/>
      <dgm:spPr/>
    </dgm:pt>
    <dgm:pt modelId="{36F16A63-7D3B-4F6F-BC9E-C39B848F64CB}" type="pres">
      <dgm:prSet presAssocID="{7BC938D0-AD1F-4EFE-934B-8D6D42850862}" presName="parTx" presStyleLbl="revTx" presStyleIdx="2" presStyleCnt="8">
        <dgm:presLayoutVars>
          <dgm:chMax val="0"/>
          <dgm:chPref val="0"/>
        </dgm:presLayoutVars>
      </dgm:prSet>
      <dgm:spPr/>
    </dgm:pt>
    <dgm:pt modelId="{24C2F845-09E7-4241-BF45-D47A45B71B3F}" type="pres">
      <dgm:prSet presAssocID="{7BC938D0-AD1F-4EFE-934B-8D6D42850862}" presName="txSpace" presStyleCnt="0"/>
      <dgm:spPr/>
    </dgm:pt>
    <dgm:pt modelId="{4138466C-A13D-4406-A4EC-882079062FDA}" type="pres">
      <dgm:prSet presAssocID="{7BC938D0-AD1F-4EFE-934B-8D6D42850862}" presName="desTx" presStyleLbl="revTx" presStyleIdx="3" presStyleCnt="8">
        <dgm:presLayoutVars/>
      </dgm:prSet>
      <dgm:spPr/>
    </dgm:pt>
    <dgm:pt modelId="{768E2B43-D1EB-496C-8F17-791C51EB2FB6}" type="pres">
      <dgm:prSet presAssocID="{D17D2310-F2F3-442B-91DF-E6F4377EA07F}" presName="sibTrans" presStyleCnt="0"/>
      <dgm:spPr/>
    </dgm:pt>
    <dgm:pt modelId="{1A2B508A-C53C-4B34-9DA8-1453F462BA2A}" type="pres">
      <dgm:prSet presAssocID="{3500975B-9923-4120-BAD8-FE1224F6FE18}" presName="compNode" presStyleCnt="0"/>
      <dgm:spPr/>
    </dgm:pt>
    <dgm:pt modelId="{F3F3631F-E827-48FC-B77D-130C0F873C02}" type="pres">
      <dgm:prSet presAssocID="{3500975B-9923-4120-BAD8-FE1224F6FE1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438217B-D2A9-4454-AEC2-EF59B4BDE005}" type="pres">
      <dgm:prSet presAssocID="{3500975B-9923-4120-BAD8-FE1224F6FE18}" presName="iconSpace" presStyleCnt="0"/>
      <dgm:spPr/>
    </dgm:pt>
    <dgm:pt modelId="{AACAEA24-55A6-44DC-BD65-B16BA03BEF47}" type="pres">
      <dgm:prSet presAssocID="{3500975B-9923-4120-BAD8-FE1224F6FE18}" presName="parTx" presStyleLbl="revTx" presStyleIdx="4" presStyleCnt="8">
        <dgm:presLayoutVars>
          <dgm:chMax val="0"/>
          <dgm:chPref val="0"/>
        </dgm:presLayoutVars>
      </dgm:prSet>
      <dgm:spPr/>
    </dgm:pt>
    <dgm:pt modelId="{463F353F-F4B0-4694-8A7F-6C14B13585B5}" type="pres">
      <dgm:prSet presAssocID="{3500975B-9923-4120-BAD8-FE1224F6FE18}" presName="txSpace" presStyleCnt="0"/>
      <dgm:spPr/>
    </dgm:pt>
    <dgm:pt modelId="{2B6CF76A-22EA-48CA-9FA4-6D208A1B0A3B}" type="pres">
      <dgm:prSet presAssocID="{3500975B-9923-4120-BAD8-FE1224F6FE18}" presName="desTx" presStyleLbl="revTx" presStyleIdx="5" presStyleCnt="8">
        <dgm:presLayoutVars/>
      </dgm:prSet>
      <dgm:spPr/>
    </dgm:pt>
    <dgm:pt modelId="{1C0084E1-D272-4AC3-BB06-49AC5116C1D9}" type="pres">
      <dgm:prSet presAssocID="{C74C1351-9029-42A8-B9E2-D09E8A2725B3}" presName="sibTrans" presStyleCnt="0"/>
      <dgm:spPr/>
    </dgm:pt>
    <dgm:pt modelId="{EC30F8EE-E375-40A9-B5C3-B636B5A6BC9D}" type="pres">
      <dgm:prSet presAssocID="{232BBC39-1A9D-40C9-8D70-40A6E93C9273}" presName="compNode" presStyleCnt="0"/>
      <dgm:spPr/>
    </dgm:pt>
    <dgm:pt modelId="{8A0E2784-0ABE-4187-8668-7455E65A1A13}" type="pres">
      <dgm:prSet presAssocID="{232BBC39-1A9D-40C9-8D70-40A6E93C92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B62328-4309-4E87-B5EE-DEF92AA4354C}" type="pres">
      <dgm:prSet presAssocID="{232BBC39-1A9D-40C9-8D70-40A6E93C9273}" presName="iconSpace" presStyleCnt="0"/>
      <dgm:spPr/>
    </dgm:pt>
    <dgm:pt modelId="{B6B72B0F-767E-4EBD-87C1-ACBB8CC12538}" type="pres">
      <dgm:prSet presAssocID="{232BBC39-1A9D-40C9-8D70-40A6E93C9273}" presName="parTx" presStyleLbl="revTx" presStyleIdx="6" presStyleCnt="8">
        <dgm:presLayoutVars>
          <dgm:chMax val="0"/>
          <dgm:chPref val="0"/>
        </dgm:presLayoutVars>
      </dgm:prSet>
      <dgm:spPr/>
    </dgm:pt>
    <dgm:pt modelId="{F5B639DD-C6C8-47A3-9EF6-F937E2B12C52}" type="pres">
      <dgm:prSet presAssocID="{232BBC39-1A9D-40C9-8D70-40A6E93C9273}" presName="txSpace" presStyleCnt="0"/>
      <dgm:spPr/>
    </dgm:pt>
    <dgm:pt modelId="{733D1EBC-065B-4263-865A-20D8D7101688}" type="pres">
      <dgm:prSet presAssocID="{232BBC39-1A9D-40C9-8D70-40A6E93C9273}" presName="desTx" presStyleLbl="revTx" presStyleIdx="7" presStyleCnt="8">
        <dgm:presLayoutVars/>
      </dgm:prSet>
      <dgm:spPr/>
    </dgm:pt>
  </dgm:ptLst>
  <dgm:cxnLst>
    <dgm:cxn modelId="{45F20E05-18EF-43D9-9DE0-10D6E6DC369D}" type="presOf" srcId="{AD5757F4-44DF-4CB8-B21E-234C3A47B9F1}" destId="{AB18E736-8B34-437B-9F7E-50D3C0030E6D}" srcOrd="0" destOrd="0" presId="urn:microsoft.com/office/officeart/2018/2/layout/IconLabelDescriptionList"/>
    <dgm:cxn modelId="{54C3FF08-E4AD-459B-A420-CEF079990863}" srcId="{368F1C2F-A5E1-4B86-8EE0-086C9B565DF9}" destId="{AD5757F4-44DF-4CB8-B21E-234C3A47B9F1}" srcOrd="0" destOrd="0" parTransId="{D037E58A-FD6F-443C-909A-EB437BDF2D1B}" sibTransId="{79BB9009-466A-47FA-9165-6B733784FB7D}"/>
    <dgm:cxn modelId="{26BAD121-503D-4983-917A-F0B2D7B0C364}" srcId="{368F1C2F-A5E1-4B86-8EE0-086C9B565DF9}" destId="{7BC938D0-AD1F-4EFE-934B-8D6D42850862}" srcOrd="1" destOrd="0" parTransId="{05A6CD35-CCC9-48BF-AA9E-A53AECB9EFED}" sibTransId="{D17D2310-F2F3-442B-91DF-E6F4377EA07F}"/>
    <dgm:cxn modelId="{B883562D-B751-4821-A714-AA4C1F89D521}" srcId="{232BBC39-1A9D-40C9-8D70-40A6E93C9273}" destId="{212D6F94-D66F-49C2-9608-A5215C104C72}" srcOrd="2" destOrd="0" parTransId="{275EC373-545C-4C8E-BB1C-D95C250092F3}" sibTransId="{C678FFB8-A614-4356-A56A-8AB14F0F5C35}"/>
    <dgm:cxn modelId="{02E32641-9D17-4373-8377-DC846FADD6C9}" type="presOf" srcId="{9D0572DF-578C-4425-958C-9235697E3CA6}" destId="{733D1EBC-065B-4263-865A-20D8D7101688}" srcOrd="0" destOrd="1" presId="urn:microsoft.com/office/officeart/2018/2/layout/IconLabelDescriptionList"/>
    <dgm:cxn modelId="{E9B77166-0443-47E8-B77E-46174907A76C}" srcId="{3500975B-9923-4120-BAD8-FE1224F6FE18}" destId="{6952797A-5070-4E63-A211-B4167C5A30E1}" srcOrd="2" destOrd="0" parTransId="{A0C2B7F6-AEE7-46BE-92FC-52F572CC092E}" sibTransId="{529F05CF-437B-4F3C-B3C4-C6B28EA8EE59}"/>
    <dgm:cxn modelId="{10B5BA49-7CFF-429E-96EC-61ED39846194}" type="presOf" srcId="{368F1C2F-A5E1-4B86-8EE0-086C9B565DF9}" destId="{3EC32D8E-3C97-414A-AC33-C81C9BAC6E5E}" srcOrd="0" destOrd="0" presId="urn:microsoft.com/office/officeart/2018/2/layout/IconLabelDescriptionList"/>
    <dgm:cxn modelId="{6F911F4B-7825-40E9-9724-0DCF12ED97D3}" srcId="{3500975B-9923-4120-BAD8-FE1224F6FE18}" destId="{29942D05-B80C-4837-8BB8-B26FCA27900F}" srcOrd="0" destOrd="0" parTransId="{9624D2DB-3FDF-4607-8EFB-B1E5244AF21A}" sibTransId="{34126E55-A870-4B19-9596-03917BA13847}"/>
    <dgm:cxn modelId="{53739A72-0DE4-4914-992F-6B1530636185}" srcId="{368F1C2F-A5E1-4B86-8EE0-086C9B565DF9}" destId="{232BBC39-1A9D-40C9-8D70-40A6E93C9273}" srcOrd="3" destOrd="0" parTransId="{7440C343-4A6C-4958-AA16-B8A677C18A58}" sibTransId="{DE4FE4D2-6083-48FC-911F-12500B4E5A1D}"/>
    <dgm:cxn modelId="{5B000D75-4A79-4944-9165-B963EFBF59A0}" type="presOf" srcId="{212D6F94-D66F-49C2-9608-A5215C104C72}" destId="{733D1EBC-065B-4263-865A-20D8D7101688}" srcOrd="0" destOrd="2" presId="urn:microsoft.com/office/officeart/2018/2/layout/IconLabelDescriptionList"/>
    <dgm:cxn modelId="{88EDC658-0FC6-4627-92D1-CF4D68004B0A}" srcId="{368F1C2F-A5E1-4B86-8EE0-086C9B565DF9}" destId="{3500975B-9923-4120-BAD8-FE1224F6FE18}" srcOrd="2" destOrd="0" parTransId="{43BCA940-58BA-41A2-8BAD-EDF14F815494}" sibTransId="{C74C1351-9029-42A8-B9E2-D09E8A2725B3}"/>
    <dgm:cxn modelId="{D1E2498E-50AD-4842-BEE4-805595FC959E}" srcId="{3500975B-9923-4120-BAD8-FE1224F6FE18}" destId="{A599091E-CE8C-4AC0-B18A-9F46ACAE1922}" srcOrd="1" destOrd="0" parTransId="{131CA67B-750B-4C01-AEA0-49D4281DB553}" sibTransId="{4F9563E3-59FE-4809-9776-4BDB03A86466}"/>
    <dgm:cxn modelId="{7C6333BD-A45B-41FF-89DC-3F26944563B9}" type="presOf" srcId="{35E55890-4456-4029-8BDF-D9FB2D606144}" destId="{733D1EBC-065B-4263-865A-20D8D7101688}" srcOrd="0" destOrd="0" presId="urn:microsoft.com/office/officeart/2018/2/layout/IconLabelDescriptionList"/>
    <dgm:cxn modelId="{A21F84C6-A217-469A-BD81-EB29847D5EEF}" type="presOf" srcId="{29942D05-B80C-4837-8BB8-B26FCA27900F}" destId="{2B6CF76A-22EA-48CA-9FA4-6D208A1B0A3B}" srcOrd="0" destOrd="0" presId="urn:microsoft.com/office/officeart/2018/2/layout/IconLabelDescriptionList"/>
    <dgm:cxn modelId="{DAFFD5CB-C26E-4223-B929-F2A195484D5D}" type="presOf" srcId="{6952797A-5070-4E63-A211-B4167C5A30E1}" destId="{2B6CF76A-22EA-48CA-9FA4-6D208A1B0A3B}" srcOrd="0" destOrd="2" presId="urn:microsoft.com/office/officeart/2018/2/layout/IconLabelDescriptionList"/>
    <dgm:cxn modelId="{CDA5E1CD-7BA1-4052-A460-162F8D194BA0}" type="presOf" srcId="{3500975B-9923-4120-BAD8-FE1224F6FE18}" destId="{AACAEA24-55A6-44DC-BD65-B16BA03BEF47}" srcOrd="0" destOrd="0" presId="urn:microsoft.com/office/officeart/2018/2/layout/IconLabelDescriptionList"/>
    <dgm:cxn modelId="{FB357BD1-853A-4AF6-B9D0-9587F8AF8EC5}" type="presOf" srcId="{7BC938D0-AD1F-4EFE-934B-8D6D42850862}" destId="{36F16A63-7D3B-4F6F-BC9E-C39B848F64CB}" srcOrd="0" destOrd="0" presId="urn:microsoft.com/office/officeart/2018/2/layout/IconLabelDescriptionList"/>
    <dgm:cxn modelId="{1A1F46D6-DD83-4388-8CFE-A0C77271B84F}" srcId="{232BBC39-1A9D-40C9-8D70-40A6E93C9273}" destId="{9D0572DF-578C-4425-958C-9235697E3CA6}" srcOrd="1" destOrd="0" parTransId="{C5E807CE-FB8F-429A-B176-96B2283EE869}" sibTransId="{46641DA6-57F4-482F-8D86-F3644BD8726F}"/>
    <dgm:cxn modelId="{FCA171D6-EFDF-4DA8-9CD9-D98F77691CCC}" type="presOf" srcId="{232BBC39-1A9D-40C9-8D70-40A6E93C9273}" destId="{B6B72B0F-767E-4EBD-87C1-ACBB8CC12538}" srcOrd="0" destOrd="0" presId="urn:microsoft.com/office/officeart/2018/2/layout/IconLabelDescriptionList"/>
    <dgm:cxn modelId="{F5C476F3-BAC5-4378-8126-7EDA7F0C1FDF}" type="presOf" srcId="{A599091E-CE8C-4AC0-B18A-9F46ACAE1922}" destId="{2B6CF76A-22EA-48CA-9FA4-6D208A1B0A3B}" srcOrd="0" destOrd="1" presId="urn:microsoft.com/office/officeart/2018/2/layout/IconLabelDescriptionList"/>
    <dgm:cxn modelId="{CF5729FC-6597-43D6-8B7B-6BA3137E5E9A}" srcId="{232BBC39-1A9D-40C9-8D70-40A6E93C9273}" destId="{35E55890-4456-4029-8BDF-D9FB2D606144}" srcOrd="0" destOrd="0" parTransId="{0C7D2AD6-7086-4784-94F7-24C749F75D31}" sibTransId="{D1B698EF-79ED-42BC-83B6-3847C6056E37}"/>
    <dgm:cxn modelId="{CCA0AA52-2583-4296-8BF6-64D0B7948623}" type="presParOf" srcId="{3EC32D8E-3C97-414A-AC33-C81C9BAC6E5E}" destId="{E076E52B-5CF2-40D9-B6C3-10E1BDC8E7E4}" srcOrd="0" destOrd="0" presId="urn:microsoft.com/office/officeart/2018/2/layout/IconLabelDescriptionList"/>
    <dgm:cxn modelId="{6F22BD6F-9C3A-49C8-8FA6-195D2058E9FB}" type="presParOf" srcId="{E076E52B-5CF2-40D9-B6C3-10E1BDC8E7E4}" destId="{5C191BFE-49A9-4FA8-ABCE-E8EB61FCF045}" srcOrd="0" destOrd="0" presId="urn:microsoft.com/office/officeart/2018/2/layout/IconLabelDescriptionList"/>
    <dgm:cxn modelId="{A2B96463-9BCC-4E3D-A222-8597944D8BD8}" type="presParOf" srcId="{E076E52B-5CF2-40D9-B6C3-10E1BDC8E7E4}" destId="{3A899ACB-6A32-43E0-8F19-1A8D2537B0FC}" srcOrd="1" destOrd="0" presId="urn:microsoft.com/office/officeart/2018/2/layout/IconLabelDescriptionList"/>
    <dgm:cxn modelId="{F47125FB-6815-4E9C-A546-811150E132CA}" type="presParOf" srcId="{E076E52B-5CF2-40D9-B6C3-10E1BDC8E7E4}" destId="{AB18E736-8B34-437B-9F7E-50D3C0030E6D}" srcOrd="2" destOrd="0" presId="urn:microsoft.com/office/officeart/2018/2/layout/IconLabelDescriptionList"/>
    <dgm:cxn modelId="{D56FEAB4-C8AD-4B79-AA4F-8135DAB38C31}" type="presParOf" srcId="{E076E52B-5CF2-40D9-B6C3-10E1BDC8E7E4}" destId="{E6FFFE02-EBA7-4BA1-8743-5E97CB2EA935}" srcOrd="3" destOrd="0" presId="urn:microsoft.com/office/officeart/2018/2/layout/IconLabelDescriptionList"/>
    <dgm:cxn modelId="{90F43479-3F47-4AC8-8F11-E40E82547515}" type="presParOf" srcId="{E076E52B-5CF2-40D9-B6C3-10E1BDC8E7E4}" destId="{256C80D4-4B07-44D6-A64C-D249543EAF5C}" srcOrd="4" destOrd="0" presId="urn:microsoft.com/office/officeart/2018/2/layout/IconLabelDescriptionList"/>
    <dgm:cxn modelId="{54E251DC-4B7C-47D9-AFDB-B34826FADBF3}" type="presParOf" srcId="{3EC32D8E-3C97-414A-AC33-C81C9BAC6E5E}" destId="{8665BDA4-9F6D-4E92-A189-14E92DEA07F9}" srcOrd="1" destOrd="0" presId="urn:microsoft.com/office/officeart/2018/2/layout/IconLabelDescriptionList"/>
    <dgm:cxn modelId="{A73B5310-648C-40CE-BD11-EFE06626AEA4}" type="presParOf" srcId="{3EC32D8E-3C97-414A-AC33-C81C9BAC6E5E}" destId="{0D7CC3C0-839C-49AD-BA71-9975462FE658}" srcOrd="2" destOrd="0" presId="urn:microsoft.com/office/officeart/2018/2/layout/IconLabelDescriptionList"/>
    <dgm:cxn modelId="{50B03CE2-B711-4125-9C59-41D265ABBB8B}" type="presParOf" srcId="{0D7CC3C0-839C-49AD-BA71-9975462FE658}" destId="{5275D2FC-009F-47E4-B080-1B68A0FF9439}" srcOrd="0" destOrd="0" presId="urn:microsoft.com/office/officeart/2018/2/layout/IconLabelDescriptionList"/>
    <dgm:cxn modelId="{C6695AA6-CAB9-4800-8DFF-C6E582E39E00}" type="presParOf" srcId="{0D7CC3C0-839C-49AD-BA71-9975462FE658}" destId="{2C982B66-D93A-4D59-B39E-DA718D44390C}" srcOrd="1" destOrd="0" presId="urn:microsoft.com/office/officeart/2018/2/layout/IconLabelDescriptionList"/>
    <dgm:cxn modelId="{57F85391-B014-44D2-A646-4A891B71485A}" type="presParOf" srcId="{0D7CC3C0-839C-49AD-BA71-9975462FE658}" destId="{36F16A63-7D3B-4F6F-BC9E-C39B848F64CB}" srcOrd="2" destOrd="0" presId="urn:microsoft.com/office/officeart/2018/2/layout/IconLabelDescriptionList"/>
    <dgm:cxn modelId="{7B6362CE-F026-436C-9BE5-6A77F3392B35}" type="presParOf" srcId="{0D7CC3C0-839C-49AD-BA71-9975462FE658}" destId="{24C2F845-09E7-4241-BF45-D47A45B71B3F}" srcOrd="3" destOrd="0" presId="urn:microsoft.com/office/officeart/2018/2/layout/IconLabelDescriptionList"/>
    <dgm:cxn modelId="{959DE8E3-FCB5-4100-9C34-ECD22BD42D29}" type="presParOf" srcId="{0D7CC3C0-839C-49AD-BA71-9975462FE658}" destId="{4138466C-A13D-4406-A4EC-882079062FDA}" srcOrd="4" destOrd="0" presId="urn:microsoft.com/office/officeart/2018/2/layout/IconLabelDescriptionList"/>
    <dgm:cxn modelId="{56A70977-7FF7-4365-B28F-6197DD9D4A2C}" type="presParOf" srcId="{3EC32D8E-3C97-414A-AC33-C81C9BAC6E5E}" destId="{768E2B43-D1EB-496C-8F17-791C51EB2FB6}" srcOrd="3" destOrd="0" presId="urn:microsoft.com/office/officeart/2018/2/layout/IconLabelDescriptionList"/>
    <dgm:cxn modelId="{B35CE38C-7BE8-4C86-8470-754989CF69EB}" type="presParOf" srcId="{3EC32D8E-3C97-414A-AC33-C81C9BAC6E5E}" destId="{1A2B508A-C53C-4B34-9DA8-1453F462BA2A}" srcOrd="4" destOrd="0" presId="urn:microsoft.com/office/officeart/2018/2/layout/IconLabelDescriptionList"/>
    <dgm:cxn modelId="{EB1228AA-3090-42A1-B908-69AEFAC14B08}" type="presParOf" srcId="{1A2B508A-C53C-4B34-9DA8-1453F462BA2A}" destId="{F3F3631F-E827-48FC-B77D-130C0F873C02}" srcOrd="0" destOrd="0" presId="urn:microsoft.com/office/officeart/2018/2/layout/IconLabelDescriptionList"/>
    <dgm:cxn modelId="{F61269A3-6A80-4628-9965-63149001A2A6}" type="presParOf" srcId="{1A2B508A-C53C-4B34-9DA8-1453F462BA2A}" destId="{7438217B-D2A9-4454-AEC2-EF59B4BDE005}" srcOrd="1" destOrd="0" presId="urn:microsoft.com/office/officeart/2018/2/layout/IconLabelDescriptionList"/>
    <dgm:cxn modelId="{2F335EAE-4096-45BA-83E1-AEA1BBFA0FF1}" type="presParOf" srcId="{1A2B508A-C53C-4B34-9DA8-1453F462BA2A}" destId="{AACAEA24-55A6-44DC-BD65-B16BA03BEF47}" srcOrd="2" destOrd="0" presId="urn:microsoft.com/office/officeart/2018/2/layout/IconLabelDescriptionList"/>
    <dgm:cxn modelId="{F56B43EA-B1A7-43EC-B2BF-7218DB01A304}" type="presParOf" srcId="{1A2B508A-C53C-4B34-9DA8-1453F462BA2A}" destId="{463F353F-F4B0-4694-8A7F-6C14B13585B5}" srcOrd="3" destOrd="0" presId="urn:microsoft.com/office/officeart/2018/2/layout/IconLabelDescriptionList"/>
    <dgm:cxn modelId="{0CBFE959-0F37-478F-A820-8BB241604EE7}" type="presParOf" srcId="{1A2B508A-C53C-4B34-9DA8-1453F462BA2A}" destId="{2B6CF76A-22EA-48CA-9FA4-6D208A1B0A3B}" srcOrd="4" destOrd="0" presId="urn:microsoft.com/office/officeart/2018/2/layout/IconLabelDescriptionList"/>
    <dgm:cxn modelId="{608F2E61-E7A0-4385-9A56-45CA54CBF412}" type="presParOf" srcId="{3EC32D8E-3C97-414A-AC33-C81C9BAC6E5E}" destId="{1C0084E1-D272-4AC3-BB06-49AC5116C1D9}" srcOrd="5" destOrd="0" presId="urn:microsoft.com/office/officeart/2018/2/layout/IconLabelDescriptionList"/>
    <dgm:cxn modelId="{C3F859D3-0BE9-4101-9D90-FCA2625D9E32}" type="presParOf" srcId="{3EC32D8E-3C97-414A-AC33-C81C9BAC6E5E}" destId="{EC30F8EE-E375-40A9-B5C3-B636B5A6BC9D}" srcOrd="6" destOrd="0" presId="urn:microsoft.com/office/officeart/2018/2/layout/IconLabelDescriptionList"/>
    <dgm:cxn modelId="{B402C829-7133-489B-9222-E143BC8E2A76}" type="presParOf" srcId="{EC30F8EE-E375-40A9-B5C3-B636B5A6BC9D}" destId="{8A0E2784-0ABE-4187-8668-7455E65A1A13}" srcOrd="0" destOrd="0" presId="urn:microsoft.com/office/officeart/2018/2/layout/IconLabelDescriptionList"/>
    <dgm:cxn modelId="{933BD636-1380-4051-8795-89DA0B8FDA40}" type="presParOf" srcId="{EC30F8EE-E375-40A9-B5C3-B636B5A6BC9D}" destId="{BCB62328-4309-4E87-B5EE-DEF92AA4354C}" srcOrd="1" destOrd="0" presId="urn:microsoft.com/office/officeart/2018/2/layout/IconLabelDescriptionList"/>
    <dgm:cxn modelId="{6801865C-6D57-4FD8-9175-26E2879EC5B8}" type="presParOf" srcId="{EC30F8EE-E375-40A9-B5C3-B636B5A6BC9D}" destId="{B6B72B0F-767E-4EBD-87C1-ACBB8CC12538}" srcOrd="2" destOrd="0" presId="urn:microsoft.com/office/officeart/2018/2/layout/IconLabelDescriptionList"/>
    <dgm:cxn modelId="{52AC2A8A-6E5D-404F-AAD6-3D97D34DC701}" type="presParOf" srcId="{EC30F8EE-E375-40A9-B5C3-B636B5A6BC9D}" destId="{F5B639DD-C6C8-47A3-9EF6-F937E2B12C52}" srcOrd="3" destOrd="0" presId="urn:microsoft.com/office/officeart/2018/2/layout/IconLabelDescriptionList"/>
    <dgm:cxn modelId="{39C08CA5-D491-44DA-83A1-870223EC3C01}" type="presParOf" srcId="{EC30F8EE-E375-40A9-B5C3-B636B5A6BC9D}" destId="{733D1EBC-065B-4263-865A-20D8D710168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91BFE-49A9-4FA8-ABCE-E8EB61FCF045}">
      <dsp:nvSpPr>
        <dsp:cNvPr id="0" name=""/>
        <dsp:cNvSpPr/>
      </dsp:nvSpPr>
      <dsp:spPr>
        <a:xfrm>
          <a:off x="3204" y="198108"/>
          <a:ext cx="556664" cy="556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8E736-8B34-437B-9F7E-50D3C0030E6D}">
      <dsp:nvSpPr>
        <dsp:cNvPr id="0" name=""/>
        <dsp:cNvSpPr/>
      </dsp:nvSpPr>
      <dsp:spPr>
        <a:xfrm>
          <a:off x="3204" y="897840"/>
          <a:ext cx="1590468" cy="1861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Auto insurance fraud costs billions of dollars annually, leading to higher premiums for honest customers and major losses for companies.</a:t>
          </a:r>
        </a:p>
      </dsp:txBody>
      <dsp:txXfrm>
        <a:off x="3204" y="897840"/>
        <a:ext cx="1590468" cy="1861185"/>
      </dsp:txXfrm>
    </dsp:sp>
    <dsp:sp modelId="{256C80D4-4B07-44D6-A64C-D249543EAF5C}">
      <dsp:nvSpPr>
        <dsp:cNvPr id="0" name=""/>
        <dsp:cNvSpPr/>
      </dsp:nvSpPr>
      <dsp:spPr>
        <a:xfrm>
          <a:off x="3204" y="2825569"/>
          <a:ext cx="1590468" cy="699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5D2FC-009F-47E4-B080-1B68A0FF9439}">
      <dsp:nvSpPr>
        <dsp:cNvPr id="0" name=""/>
        <dsp:cNvSpPr/>
      </dsp:nvSpPr>
      <dsp:spPr>
        <a:xfrm>
          <a:off x="1872005" y="198108"/>
          <a:ext cx="556664" cy="556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16A63-7D3B-4F6F-BC9E-C39B848F64CB}">
      <dsp:nvSpPr>
        <dsp:cNvPr id="0" name=""/>
        <dsp:cNvSpPr/>
      </dsp:nvSpPr>
      <dsp:spPr>
        <a:xfrm>
          <a:off x="1872005" y="897840"/>
          <a:ext cx="1590468" cy="1861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Traditional fraud detection methods, such as manual audits and rule-based systems, are slow, error-prone, and unable to adapt to evolving fraud tactics.</a:t>
          </a:r>
        </a:p>
      </dsp:txBody>
      <dsp:txXfrm>
        <a:off x="1872005" y="897840"/>
        <a:ext cx="1590468" cy="1861185"/>
      </dsp:txXfrm>
    </dsp:sp>
    <dsp:sp modelId="{4138466C-A13D-4406-A4EC-882079062FDA}">
      <dsp:nvSpPr>
        <dsp:cNvPr id="0" name=""/>
        <dsp:cNvSpPr/>
      </dsp:nvSpPr>
      <dsp:spPr>
        <a:xfrm>
          <a:off x="1872005" y="2825569"/>
          <a:ext cx="1590468" cy="699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F3631F-E827-48FC-B77D-130C0F873C02}">
      <dsp:nvSpPr>
        <dsp:cNvPr id="0" name=""/>
        <dsp:cNvSpPr/>
      </dsp:nvSpPr>
      <dsp:spPr>
        <a:xfrm>
          <a:off x="3740806" y="198108"/>
          <a:ext cx="556664" cy="556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EA24-55A6-44DC-BD65-B16BA03BEF47}">
      <dsp:nvSpPr>
        <dsp:cNvPr id="0" name=""/>
        <dsp:cNvSpPr/>
      </dsp:nvSpPr>
      <dsp:spPr>
        <a:xfrm>
          <a:off x="3740806" y="897840"/>
          <a:ext cx="1590468" cy="1861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The rise of big data and machine learning provides a smarter way to detect hidden patterns using structured metadata like:</a:t>
          </a:r>
          <a:endParaRPr lang="en-US" sz="1400" kern="1200"/>
        </a:p>
      </dsp:txBody>
      <dsp:txXfrm>
        <a:off x="3740806" y="897840"/>
        <a:ext cx="1590468" cy="1861185"/>
      </dsp:txXfrm>
    </dsp:sp>
    <dsp:sp modelId="{2B6CF76A-22EA-48CA-9FA4-6D208A1B0A3B}">
      <dsp:nvSpPr>
        <dsp:cNvPr id="0" name=""/>
        <dsp:cNvSpPr/>
      </dsp:nvSpPr>
      <dsp:spPr>
        <a:xfrm>
          <a:off x="3740806" y="2825569"/>
          <a:ext cx="1590468" cy="699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Policyholder demographics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Vehicle and accident information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Claim histories</a:t>
          </a:r>
        </a:p>
      </dsp:txBody>
      <dsp:txXfrm>
        <a:off x="3740806" y="2825569"/>
        <a:ext cx="1590468" cy="699548"/>
      </dsp:txXfrm>
    </dsp:sp>
    <dsp:sp modelId="{8A0E2784-0ABE-4187-8668-7455E65A1A13}">
      <dsp:nvSpPr>
        <dsp:cNvPr id="0" name=""/>
        <dsp:cNvSpPr/>
      </dsp:nvSpPr>
      <dsp:spPr>
        <a:xfrm>
          <a:off x="5609607" y="198108"/>
          <a:ext cx="556664" cy="5566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72B0F-767E-4EBD-87C1-ACBB8CC12538}">
      <dsp:nvSpPr>
        <dsp:cNvPr id="0" name=""/>
        <dsp:cNvSpPr/>
      </dsp:nvSpPr>
      <dsp:spPr>
        <a:xfrm>
          <a:off x="5609607" y="897840"/>
          <a:ext cx="1590468" cy="1861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Our project uses machine learning models to classify insurance claims as fraudulent or legitimate, aiming to:</a:t>
          </a:r>
          <a:endParaRPr lang="en-US" sz="1400" kern="1200"/>
        </a:p>
      </dsp:txBody>
      <dsp:txXfrm>
        <a:off x="5609607" y="897840"/>
        <a:ext cx="1590468" cy="1861185"/>
      </dsp:txXfrm>
    </dsp:sp>
    <dsp:sp modelId="{733D1EBC-065B-4263-865A-20D8D7101688}">
      <dsp:nvSpPr>
        <dsp:cNvPr id="0" name=""/>
        <dsp:cNvSpPr/>
      </dsp:nvSpPr>
      <dsp:spPr>
        <a:xfrm>
          <a:off x="5609607" y="2825569"/>
          <a:ext cx="1590468" cy="699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Reduce financial losses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Speed up claim processing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Protect the integrity of the insurance industry</a:t>
          </a:r>
        </a:p>
      </dsp:txBody>
      <dsp:txXfrm>
        <a:off x="5609607" y="2825569"/>
        <a:ext cx="1590468" cy="699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85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38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2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04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3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8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26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6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3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973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365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8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212.07802" TargetMode="External"/><Relationship Id="rId3" Type="http://schemas.openxmlformats.org/officeDocument/2006/relationships/hyperlink" Target="https://ieeexplore.ieee.org/abstract/document/8424690" TargetMode="External"/><Relationship Id="rId7" Type="http://schemas.openxmlformats.org/officeDocument/2006/relationships/hyperlink" Target="https://doi.org/10.1111/risa.13693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rxiv.org/abs/2204.06109" TargetMode="External"/><Relationship Id="rId5" Type="http://schemas.openxmlformats.org/officeDocument/2006/relationships/hyperlink" Target="https://arxiv.org/abs/2301.07526" TargetMode="External"/><Relationship Id="rId4" Type="http://schemas.openxmlformats.org/officeDocument/2006/relationships/hyperlink" Target="https://doi.org/10.1016/j.dss.2010.08.006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237488"/>
          </a:xfrm>
        </p:spPr>
        <p:txBody>
          <a:bodyPr>
            <a:normAutofit fontScale="90000"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Metadata-Based Machine Learning Approach for Vehicle Insurance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47088"/>
            <a:ext cx="7886700" cy="44622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 – AIT-582-003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Yatish Chandra Nalla (G01512626) 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Sai Vamsidhar Reddy </a:t>
            </a: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Meruva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 (G01474023) 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Manasa Rajagopal </a:t>
            </a: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Madabushi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(G01476994) 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Sai Raga Sruthi </a:t>
            </a: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Nalagandla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 (G01478476)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 Sonal Ashok Kumar Masid (G01514651) 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Madhu Yamini </a:t>
            </a: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Nainala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 (G01483862) </a:t>
            </a:r>
            <a:b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</a:b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Sowdhamini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 Bharadwaj Mandava Venkata (G01476219)</a:t>
            </a:r>
          </a:p>
          <a:p>
            <a:pPr marL="0" indent="0" algn="ctr"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28B74-C323-BD87-2B59-B7DF8E74B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01" y="5323144"/>
            <a:ext cx="785242" cy="661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7C5C11-7B38-3B06-2357-3BF5C9100A69}"/>
              </a:ext>
            </a:extLst>
          </p:cNvPr>
          <p:cNvSpPr txBox="1"/>
          <p:nvPr/>
        </p:nvSpPr>
        <p:spPr>
          <a:xfrm>
            <a:off x="3555384" y="5484865"/>
            <a:ext cx="272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dirty="0">
                <a:solidFill>
                  <a:srgbClr val="211B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George Mason University</a:t>
            </a:r>
            <a:endParaRPr lang="en-IN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447E8-CC18-E5E9-973E-3B649A0CF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434" y="1976634"/>
            <a:ext cx="1544779" cy="1608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B5E117-A6B2-C201-B4E1-9BC042E241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22" r="8572"/>
          <a:stretch/>
        </p:blipFill>
        <p:spPr>
          <a:xfrm>
            <a:off x="122530" y="2925493"/>
            <a:ext cx="2387360" cy="17708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D7AF3-D19B-89D3-B12E-987C099B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/>
              <a:t>Introduction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2A87A6-D66C-1071-FC81-FB0AA2E07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9919911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761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25257-E5BD-3C61-697D-A2026C83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Problem Statement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DE18F-75BA-59DF-F49B-CAD6A3A39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4871" y="1031443"/>
            <a:ext cx="4684744" cy="53272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Insurance fraud causes major financial losses and raises premiums for honest policyholders.</a:t>
            </a:r>
            <a:endParaRPr kumimoji="0" lang="en-US" altLang="en-US" sz="1400" b="1" i="0" u="none" strike="noStrike" cap="none" normalizeH="0" baseline="0" dirty="0">
              <a:ln>
                <a:noFill/>
              </a:ln>
            </a:endParaRPr>
          </a:p>
          <a:p>
            <a:pPr marL="2857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</a:rPr>
              <a:t>Traditional fraud detection methods rely on manual audits and fixed rules, which are:</a:t>
            </a:r>
            <a:endParaRPr lang="en-US" altLang="en-US" sz="1400" b="1" dirty="0"/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Slow</a:t>
            </a:r>
            <a:endParaRPr lang="en-US" altLang="en-US" sz="1400" dirty="0"/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Expensive</a:t>
            </a:r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Inaccurate</a:t>
            </a:r>
          </a:p>
          <a:p>
            <a:pPr marL="2857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Fraudsters constantly adapt and evolve their methods, making static rule-based systems ineffective.</a:t>
            </a:r>
          </a:p>
          <a:p>
            <a:pPr marL="2857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With large and complex datasets available today (metadata on policyholders, vehicles, claims), there's a need for automated, data-driven fraud detection.</a:t>
            </a:r>
          </a:p>
          <a:p>
            <a:pPr marL="2857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</a:rPr>
              <a:t>Our project aims to develop machine learning models that can:</a:t>
            </a:r>
            <a:endParaRPr kumimoji="0" lang="en-US" altLang="en-US" sz="1400" i="0" u="none" strike="noStrike" cap="none" normalizeH="0" baseline="0" dirty="0">
              <a:ln>
                <a:noFill/>
              </a:ln>
            </a:endParaRPr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Analyze metadata</a:t>
            </a:r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Identify suspicious patterns</a:t>
            </a:r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Accurately predict fraudulent claims</a:t>
            </a:r>
          </a:p>
          <a:p>
            <a:pPr marL="3429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</a:rPr>
              <a:t>Adapt over time to new fraud techniques</a:t>
            </a:r>
          </a:p>
          <a:p>
            <a:pPr marL="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705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50D8F-A76C-0368-F1A4-80E34736A4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Motivation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8CE8F-945A-D494-0312-74F28939F7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21162" y="972927"/>
            <a:ext cx="4369978" cy="492495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110000"/>
              </a:lnSpc>
            </a:pPr>
            <a:r>
              <a:rPr lang="en-US" sz="1300" b="1" dirty="0"/>
              <a:t>Why This Project Matters?</a:t>
            </a:r>
          </a:p>
          <a:p>
            <a:pPr defTabSz="914400">
              <a:lnSpc>
                <a:spcPct val="110000"/>
              </a:lnSpc>
            </a:pPr>
            <a:r>
              <a:rPr lang="en-US" sz="1300" b="1" dirty="0"/>
              <a:t>Massive Financial Impact:</a:t>
            </a:r>
            <a:br>
              <a:rPr lang="en-US" sz="1300" dirty="0"/>
            </a:br>
            <a:r>
              <a:rPr lang="en-US" sz="1300" dirty="0"/>
              <a:t>Insurance fraud leads to billions of dollars in losses each year, increasing costs for honest policyholders.</a:t>
            </a:r>
          </a:p>
          <a:p>
            <a:pPr defTabSz="914400">
              <a:lnSpc>
                <a:spcPct val="110000"/>
              </a:lnSpc>
            </a:pPr>
            <a:r>
              <a:rPr lang="en-US" sz="1300" b="1" dirty="0"/>
              <a:t>Limitations of Traditional Methods:</a:t>
            </a:r>
            <a:br>
              <a:rPr lang="en-US" sz="1300" dirty="0"/>
            </a:br>
            <a:r>
              <a:rPr lang="en-US" sz="1300" dirty="0"/>
              <a:t>Manual audits and rule-based systems are slow, costly, prone to errors, and fail to adapt to evolving fraud patterns.</a:t>
            </a:r>
          </a:p>
          <a:p>
            <a:pPr defTabSz="914400">
              <a:lnSpc>
                <a:spcPct val="110000"/>
              </a:lnSpc>
            </a:pPr>
            <a:r>
              <a:rPr lang="en-US" sz="1300" b="1" dirty="0"/>
              <a:t>Rise of Big Data and Machine Learning:</a:t>
            </a:r>
            <a:br>
              <a:rPr lang="en-US" sz="1300" dirty="0"/>
            </a:br>
            <a:r>
              <a:rPr lang="en-US" sz="1300" dirty="0"/>
              <a:t>Availability of rich metadata (claims, policyholder behavior, accident details) enables smarter, automated fraud detection.</a:t>
            </a:r>
          </a:p>
          <a:p>
            <a:pPr defTabSz="914400">
              <a:lnSpc>
                <a:spcPct val="110000"/>
              </a:lnSpc>
            </a:pPr>
            <a:r>
              <a:rPr lang="en-US" sz="1300" b="1" dirty="0"/>
              <a:t>Scalability and Real-Time Detection:</a:t>
            </a:r>
            <a:br>
              <a:rPr lang="en-US" sz="1300" dirty="0"/>
            </a:br>
            <a:r>
              <a:rPr lang="en-US" sz="1300" dirty="0"/>
              <a:t>Machine learning models can process large volumes of claims quickly, improving speed and accuracy in identifying fraud.</a:t>
            </a:r>
          </a:p>
          <a:p>
            <a:pPr defTabSz="914400">
              <a:lnSpc>
                <a:spcPct val="110000"/>
              </a:lnSpc>
            </a:pPr>
            <a:r>
              <a:rPr lang="en-US" sz="1300" b="1" dirty="0"/>
              <a:t>Protecting Honest Customers:</a:t>
            </a:r>
            <a:br>
              <a:rPr lang="en-US" sz="1300" dirty="0"/>
            </a:br>
            <a:r>
              <a:rPr lang="en-US" sz="1300" dirty="0"/>
              <a:t>Better fraud detection helps insurance companies maintain fair premiums and strengthens trust with genuine customers.</a:t>
            </a:r>
          </a:p>
          <a:p>
            <a:pPr marL="34290" defTabSz="914400"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6513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Research Questions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5E689B-C331-EB0F-0C59-FD5C9743079C}"/>
              </a:ext>
            </a:extLst>
          </p:cNvPr>
          <p:cNvSpPr txBox="1"/>
          <p:nvPr/>
        </p:nvSpPr>
        <p:spPr>
          <a:xfrm>
            <a:off x="3744871" y="1097283"/>
            <a:ext cx="4546269" cy="48005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br>
              <a:rPr lang="en-US" sz="1200" b="1" dirty="0">
                <a:sym typeface="Gowun Batang"/>
              </a:rPr>
            </a:br>
            <a:r>
              <a:rPr lang="en-US" sz="1200" dirty="0">
                <a:sym typeface="Gowun Batang"/>
              </a:rPr>
              <a:t>1. What effects do policyholder demographics—such as age, marital status, and sex—have on the probability of insurance fraud?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ym typeface="Gowun Batang"/>
              </a:rPr>
              <a:t>Hypothesis:</a:t>
            </a:r>
            <a:r>
              <a:rPr lang="en-US" sz="1200" dirty="0">
                <a:sym typeface="Gowun Batang"/>
              </a:rPr>
              <a:t> Because of financial incentives or opportunistic fraud, younger policyholders and single people may be more likely to commit fraud.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ym typeface="Gowun Batang"/>
              </a:rPr>
              <a:t>2. Are false claims associated with policyholders changing their addresses frequently?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ym typeface="Gowun Batang"/>
              </a:rPr>
              <a:t>Hypothesis:</a:t>
            </a:r>
            <a:r>
              <a:rPr lang="en-US" sz="1200" dirty="0">
                <a:sym typeface="Gowun Batang"/>
              </a:rPr>
              <a:t> Frequent address changes by policyholders increase the risk of fraud since they may be a sign of instability or an attempt to hide previous activity.</a:t>
            </a:r>
          </a:p>
          <a:p>
            <a:pPr lvl="0" indent="-228600" defTabSz="914400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ym typeface="Gowun Batang"/>
              </a:rPr>
              <a:t>3. What is the effect of </a:t>
            </a:r>
            <a:r>
              <a:rPr lang="en-US" sz="1200" dirty="0" err="1">
                <a:sym typeface="Gowun Batang"/>
              </a:rPr>
              <a:t>cDuring</a:t>
            </a:r>
            <a:r>
              <a:rPr lang="en-US" sz="1200" dirty="0">
                <a:sym typeface="Gowun Batang"/>
              </a:rPr>
              <a:t> some months when financial </a:t>
            </a:r>
            <a:r>
              <a:rPr lang="en-US" sz="1200" dirty="0" err="1">
                <a:sym typeface="Gowun Batang"/>
              </a:rPr>
              <a:t>laim</a:t>
            </a:r>
            <a:r>
              <a:rPr lang="en-US" sz="1200" dirty="0">
                <a:sym typeface="Gowun Batang"/>
              </a:rPr>
              <a:t> timing (month of claim, policy tenure) on the probability of fraud?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ym typeface="Gowun Batang"/>
              </a:rPr>
              <a:t>Hypothesis:</a:t>
            </a:r>
            <a:r>
              <a:rPr lang="en-US" sz="1200" dirty="0">
                <a:sym typeface="Gowun Batang"/>
              </a:rPr>
              <a:t> strains are greater or soon after the coverage begins, fraudulent claims are more common.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ym typeface="Gowun Batang"/>
              </a:rPr>
              <a:t>4. How can feature engineering and hyperparameter tweaking enhance the accuracy and recall of fraud detection models?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ym typeface="Gowun Batang"/>
              </a:rPr>
              <a:t>Hypothesis:</a:t>
            </a:r>
            <a:r>
              <a:rPr lang="en-US" sz="1200" dirty="0">
                <a:sym typeface="Gowun Batang"/>
              </a:rPr>
              <a:t> By balancing accuracy and recall, feature engineering and hyperparameter tweaking (such as modifying the learning rate or tree depth) maximize model performance.</a:t>
            </a:r>
          </a:p>
          <a:p>
            <a:pPr marL="0" lvl="0" indent="-228600" defTabSz="91440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ym typeface="Gowun Batang"/>
              </a:rPr>
              <a:t>5.What function does the quantity of supplemental claims serve in detecting fraud?</a:t>
            </a:r>
          </a:p>
          <a:p>
            <a:pPr marL="0" lvl="0" indent="-228600" defTabSz="91440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ym typeface="Gowun Batang"/>
              </a:rPr>
              <a:t>Hypothesis:</a:t>
            </a:r>
            <a:r>
              <a:rPr lang="en-US" sz="1200" dirty="0">
                <a:sym typeface="Gowun Batang"/>
              </a:rPr>
              <a:t> Multiple-supplement claims are more likely to be false since they could show inflated or extra created harm.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 Cleaning Process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3EC5F6-F3A9-F058-A5EC-15BFACB7AD39}"/>
              </a:ext>
            </a:extLst>
          </p:cNvPr>
          <p:cNvSpPr txBox="1"/>
          <p:nvPr/>
        </p:nvSpPr>
        <p:spPr>
          <a:xfrm>
            <a:off x="3744962" y="1089965"/>
            <a:ext cx="5143006" cy="544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</a:rPr>
              <a:t>Missing Value Handling: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Dropped columns with excessive missing values: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→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Days_Policy_Accident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Days_Policy_Claim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AgeOfVehicle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AgeOfPolicyHolder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NumberOfSuppliments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NumberOfCars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.</a:t>
            </a:r>
          </a:p>
          <a:p>
            <a:pPr marL="22860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</a:rPr>
              <a:t>For remaining columns: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→ Imputed missing numerical values with the median.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→ Imputed missing categorical values with the mode (most frequent value).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</a:rPr>
              <a:t>Outlier Detection and Treatment: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Used the IQR (Interquartile Range) method to identify outliers in numerical columns (Age, Deductible, Driver Rating, Past Number of Claims, Year).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Applied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Winsorization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(capping) by replacing extreme outliers with upper and lower bounds.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</a:rPr>
              <a:t>Categorical Value Standardization: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Standardized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MaritalStatus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column (e.g., 'widow' corrected to 'widowed') to maintain consistency in categorical variables.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</a:rPr>
              <a:t>Feature Engineering (Metadata Enhancements):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Created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AddressChangeFrequency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feature 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AddressChange_Claim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.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Calculated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PolicyTenure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based on the difference between the maximum year and the policy start year.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Created Claim Timing Features like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MonthOfClaim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PolicyTenureAtClaim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.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Created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SupplementalClaimsCount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to handle missing supplement data.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</a:rPr>
              <a:t>Data Scaling:</a:t>
            </a:r>
          </a:p>
          <a:p>
            <a:pPr marL="22860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Standardized numerical features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</a:rPr>
              <a:t>StandardScaler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</a:rPr>
              <a:t> for model input consistency.</a:t>
            </a:r>
          </a:p>
          <a:p>
            <a:pPr marL="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700" b="0" i="0" u="none" strike="noStrike" cap="none" normalizeH="0" baseline="0" dirty="0">
              <a:ln>
                <a:noFill/>
              </a:ln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4F498886-B923-899A-FF74-65C2F9BDCA7F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2" r="30217" b="-4741"/>
          <a:stretch/>
        </p:blipFill>
        <p:spPr bwMode="auto">
          <a:xfrm>
            <a:off x="466091" y="60325"/>
            <a:ext cx="3150285" cy="567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6E422B-187F-7D85-DABC-232044871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3" r="24328"/>
          <a:stretch/>
        </p:blipFill>
        <p:spPr bwMode="auto">
          <a:xfrm>
            <a:off x="4828032" y="199967"/>
            <a:ext cx="2432304" cy="314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CBAB74-069D-0BF6-F9BB-A433D7908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2" y="3568293"/>
            <a:ext cx="4140402" cy="227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03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1E8EC89-86BC-4558-B010-53DF36A5A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CCDDFF-B9CC-494C-8BEE-2451CD79A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264278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88685" y="804519"/>
            <a:ext cx="2643888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200"/>
              <a:t>Exploratory Data Analysis (EDA)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977EF3-E0BF-4719-9C15-8564B7D68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4C7BE9-68F0-303B-9654-E46A1BE8CD1E}"/>
              </a:ext>
            </a:extLst>
          </p:cNvPr>
          <p:cNvSpPr txBox="1"/>
          <p:nvPr/>
        </p:nvSpPr>
        <p:spPr>
          <a:xfrm>
            <a:off x="1088685" y="2015732"/>
            <a:ext cx="264388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</a:rPr>
              <a:t>Age distribution concentrated between 30–50 years.</a:t>
            </a:r>
          </a:p>
          <a:p>
            <a:pPr marL="571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</a:rPr>
              <a:t>Fraud is more common among male and younger policyholders.</a:t>
            </a:r>
          </a:p>
          <a:p>
            <a:pPr marL="571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</a:rPr>
              <a:t>Higher fraud rates observed in early-year claim months.</a:t>
            </a:r>
          </a:p>
          <a:p>
            <a:pPr marL="571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</a:rPr>
              <a:t>Strong class imbalance: only 8% of claims are fraudulent.</a:t>
            </a:r>
          </a:p>
          <a:p>
            <a:pPr marL="5715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</a:rPr>
              <a:t>Address changes within 6 months associated with more fraud.</a:t>
            </a:r>
          </a:p>
          <a:p>
            <a:pPr indent="-228600" defTabSz="914400">
              <a:lnSpc>
                <a:spcPct val="11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24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CF29673F-B820-A34B-1993-50E9B81FD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92480" y="854738"/>
            <a:ext cx="2223024" cy="440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EE1350-CDD1-56E0-568F-B82471596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97" y="514620"/>
            <a:ext cx="2223024" cy="50811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5DC397C-2B77-4200-B02F-47CA26CA2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AFA304-05B8-441F-BA73-B92E08BD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71F0676-CEC9-F6E5-AD1A-966FB10DA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180" y="1114272"/>
            <a:ext cx="2797150" cy="220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C7548774-ABAE-C98D-1FD4-9D92EB66E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66716" y="1581085"/>
            <a:ext cx="4850590" cy="160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56581C38-9081-AD2E-5D59-A616AFDA7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766" y="3610894"/>
            <a:ext cx="5529182" cy="1824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 graph of different colored rectangular objects&#10;&#10;AI-generated content may be incorrect.">
            <a:extLst>
              <a:ext uri="{FF2B5EF4-FFF2-40B4-BE49-F238E27FC236}">
                <a16:creationId xmlns:a16="http://schemas.microsoft.com/office/drawing/2014/main" id="{9574B164-16D4-5800-225A-EDBF9758F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3278" y="3492569"/>
            <a:ext cx="2839212" cy="220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4C8E6B-3944-289E-A130-F543501B563A}"/>
              </a:ext>
            </a:extLst>
          </p:cNvPr>
          <p:cNvSpPr txBox="1"/>
          <p:nvPr/>
        </p:nvSpPr>
        <p:spPr>
          <a:xfrm>
            <a:off x="4087368" y="374904"/>
            <a:ext cx="466197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ea typeface="Gowun Batang" panose="020B0604020202020204" charset="-127"/>
                <a:cs typeface="Times New Roman" panose="02020603050405020304" pitchFamily="18" charset="0"/>
              </a:rPr>
              <a:t>Fraud Probability Analysis by Metadata Features: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4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416103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7118927-E6EE-96F1-2EA5-2DD75E27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4162768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200"/>
              <a:t>Model Performance Summary</a:t>
            </a:r>
            <a:br>
              <a:rPr lang="en-US" sz="2200"/>
            </a:br>
            <a:endParaRPr lang="en-US" sz="2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EDBEA-7EE3-14C4-A187-690648F46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683" y="2015732"/>
            <a:ext cx="5487681" cy="385105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2860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300" b="1" dirty="0"/>
              <a:t>Logistic Regression:</a:t>
            </a:r>
            <a:endParaRPr lang="en-US" sz="1300" dirty="0"/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Accuracy: 64.89% | AUC: 0.7916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High recall (0.8705) but low precision (0.1322)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Performs well at ranking fraud probability but not actual classification</a:t>
            </a:r>
          </a:p>
          <a:p>
            <a:pPr marL="22860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300" b="1" dirty="0"/>
              <a:t>Decision Tree:</a:t>
            </a:r>
            <a:endParaRPr lang="en-US" sz="1300" dirty="0"/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Accuracy: ~66% | AUC: ~0.66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Tends to overfit and struggles with fraud class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Helps visualize key metadata splits</a:t>
            </a:r>
          </a:p>
          <a:p>
            <a:pPr marL="22860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300" b="1" dirty="0"/>
              <a:t>Random Forest:</a:t>
            </a:r>
            <a:endParaRPr lang="en-US" sz="1300" dirty="0"/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Accuracy: 93.99% | AUC: 0.7943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Excellent on non-fraud but fails to detect fraud (0.0 precision/recall)</a:t>
            </a:r>
          </a:p>
          <a:p>
            <a:pPr marL="22860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300" b="1" dirty="0"/>
              <a:t>Gradient Boosting:</a:t>
            </a:r>
            <a:endParaRPr lang="en-US" sz="1300" dirty="0"/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Accuracy: 93.82% | AUC: 0.8059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Slightly better fraud detection (precision: 0.1667, recall: 0.0072)</a:t>
            </a:r>
          </a:p>
          <a:p>
            <a:pPr marL="457200" lvl="1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Most promising among ensemble models tested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500" dirty="0"/>
          </a:p>
        </p:txBody>
      </p:sp>
      <p:pic>
        <p:nvPicPr>
          <p:cNvPr id="4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8429AE-3B95-7090-9F4C-22FAD9BC1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" r="3314" b="19226"/>
          <a:stretch/>
        </p:blipFill>
        <p:spPr bwMode="auto">
          <a:xfrm>
            <a:off x="5566867" y="2008046"/>
            <a:ext cx="3121825" cy="130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C9469BB-2018-E861-46E6-109A71D12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/>
          <a:stretch/>
        </p:blipFill>
        <p:spPr bwMode="auto">
          <a:xfrm>
            <a:off x="5566867" y="4041893"/>
            <a:ext cx="3467766" cy="80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97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D8524-41FE-7D1F-5AAA-A2614FA9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/>
              <a:t>Confusion Matrix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93BD5-8671-185A-2197-5D9BC0AFB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685" y="2015732"/>
            <a:ext cx="3129159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</a:rPr>
              <a:t>The confusion matrix reveals the model's inability to detect any fraudulent claims—all 138 fraud cases were misclassified as non-fraud.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</a:endParaRP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</a:rPr>
              <a:t>High true negative rate reflects strong performance in identifying legitimate claims.</a:t>
            </a: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endParaRPr lang="en-US" altLang="en-US" sz="1100"/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</a:endParaRPr>
          </a:p>
          <a:p>
            <a:pPr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</a:rPr>
              <a:t>Results highlight the severe impact of class imbalance on fraud detection accuracy.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100"/>
          </a:p>
        </p:txBody>
      </p:sp>
      <p:pic>
        <p:nvPicPr>
          <p:cNvPr id="4" name="Picture 17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E17ADC4C-442F-97C5-4FD9-C8F4EA91D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0808" y="1671083"/>
            <a:ext cx="3720331" cy="292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0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B8F4DD-C02E-D25F-C82C-F68BFD6D0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200"/>
              <a:t>ROC Curve</a:t>
            </a:r>
            <a:br>
              <a:rPr lang="en-US" sz="2200"/>
            </a:br>
            <a:br>
              <a:rPr lang="en-US" sz="2200"/>
            </a:br>
            <a:endParaRPr lang="en-US" sz="2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D4667-54B4-F69B-D816-33F915EDB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685" y="2015732"/>
            <a:ext cx="3129159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/>
              <a:t>The ROC curve for logistic regression demonstrates strong separation between fraud and non-fraud probabilities (AUC = 0.7916).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/>
              <a:t>Despite poor classification, the model ranks fraudulent cases reasonably well based on probability.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/>
              <a:t>AUC score indicates potential for improvement using threshold tuning or sampling techniques.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4" name="Picture 2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FDC57AD8-961A-2979-7358-94E74B9C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1" b="2"/>
          <a:stretch/>
        </p:blipFill>
        <p:spPr bwMode="auto">
          <a:xfrm>
            <a:off x="4570808" y="1628399"/>
            <a:ext cx="3720331" cy="301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33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27573-559A-0936-7B86-E01504A2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28600"/>
            <a:ext cx="8520600" cy="5863233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Plan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D8D1CD-E6B1-1185-1BBB-D8FBA3F66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5669"/>
              </p:ext>
            </p:extLst>
          </p:nvPr>
        </p:nvGraphicFramePr>
        <p:xfrm>
          <a:off x="704088" y="1307592"/>
          <a:ext cx="7649871" cy="4160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468">
                  <a:extLst>
                    <a:ext uri="{9D8B030D-6E8A-4147-A177-3AD203B41FA5}">
                      <a16:colId xmlns:a16="http://schemas.microsoft.com/office/drawing/2014/main" val="2426070850"/>
                    </a:ext>
                  </a:extLst>
                </a:gridCol>
                <a:gridCol w="1981316">
                  <a:extLst>
                    <a:ext uri="{9D8B030D-6E8A-4147-A177-3AD203B41FA5}">
                      <a16:colId xmlns:a16="http://schemas.microsoft.com/office/drawing/2014/main" val="2744714019"/>
                    </a:ext>
                  </a:extLst>
                </a:gridCol>
                <a:gridCol w="1843619">
                  <a:extLst>
                    <a:ext uri="{9D8B030D-6E8A-4147-A177-3AD203B41FA5}">
                      <a16:colId xmlns:a16="http://schemas.microsoft.com/office/drawing/2014/main" val="2004791742"/>
                    </a:ext>
                  </a:extLst>
                </a:gridCol>
                <a:gridCol w="1912468">
                  <a:extLst>
                    <a:ext uri="{9D8B030D-6E8A-4147-A177-3AD203B41FA5}">
                      <a16:colId xmlns:a16="http://schemas.microsoft.com/office/drawing/2014/main" val="2431395634"/>
                    </a:ext>
                  </a:extLst>
                </a:gridCol>
              </a:tblGrid>
              <a:tr h="41327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DELIVERABLES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396635"/>
                  </a:ext>
                </a:extLst>
              </a:tr>
              <a:tr h="2916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Pre-Processing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5 – Feb 11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and preprocessed dataset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179982075"/>
                  </a:ext>
                </a:extLst>
              </a:tr>
              <a:tr h="3940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12 – Feb 25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statistics, visualizations, insights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1792563307"/>
                  </a:ext>
                </a:extLst>
              </a:tr>
              <a:tr h="262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Engineering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26 – Mar 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 impact analysis report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3453519131"/>
                  </a:ext>
                </a:extLst>
              </a:tr>
              <a:tr h="43754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Modeling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 4 – Mar 17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models for fire severity and resource allocation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2850730533"/>
                  </a:ext>
                </a:extLst>
              </a:tr>
              <a:tr h="2627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 18 – Mar 24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report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2185510613"/>
                  </a:ext>
                </a:extLst>
              </a:tr>
              <a:tr h="2916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PPT &amp; Draft Report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 25 – Mar 31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 of final report and presentation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 anchor="ctr"/>
                </a:tc>
                <a:extLst>
                  <a:ext uri="{0D108BD9-81ED-4DB2-BD59-A6C34878D82A}">
                    <a16:rowId xmlns:a16="http://schemas.microsoft.com/office/drawing/2014/main" val="3735377360"/>
                  </a:ext>
                </a:extLst>
              </a:tr>
              <a:tr h="3940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Refinement &amp; Evaluation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1 – Apr 14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fine-tuning and final performance metrics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1645665311"/>
                  </a:ext>
                </a:extLst>
              </a:tr>
              <a:tr h="2916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 Revisions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15 – Apr 21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final report based on feedback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 anchor="ctr"/>
                </a:tc>
                <a:extLst>
                  <a:ext uri="{0D108BD9-81ED-4DB2-BD59-A6C34878D82A}">
                    <a16:rowId xmlns:a16="http://schemas.microsoft.com/office/drawing/2014/main" val="2147646874"/>
                  </a:ext>
                </a:extLst>
              </a:tr>
              <a:tr h="3940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Presentation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22 – Apr 28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presentation slides and practice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extLst>
                  <a:ext uri="{0D108BD9-81ED-4DB2-BD59-A6C34878D82A}">
                    <a16:rowId xmlns:a16="http://schemas.microsoft.com/office/drawing/2014/main" val="2888977291"/>
                  </a:ext>
                </a:extLst>
              </a:tr>
              <a:tr h="3940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Submission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 of final report and presentation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2681" marR="82681" marT="0" marB="0" anchor="ctr"/>
                </a:tc>
                <a:extLst>
                  <a:ext uri="{0D108BD9-81ED-4DB2-BD59-A6C34878D82A}">
                    <a16:rowId xmlns:a16="http://schemas.microsoft.com/office/drawing/2014/main" val="67375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718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6901C-7CC4-C865-0DD9-AA2345C3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Project Outcome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41623-32B4-B7C1-005F-AA0260651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4871" y="1304521"/>
            <a:ext cx="4597501" cy="47128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Successfully built and evaluated machine learning models (Logistic Regression, Decision Tree, Random Forest, Gradient Boosting) for vehicle insurance fraud detection.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Achieved strong model performance on non-fraudulent claims (high overall accuracy and AUC scores).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Logistic Regression showed good fraud probability ranking (AUC = 0.7916) but struggled with actual fraud classification due to extreme class imbalance.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Identified key metadata features such as age, address change frequency, and policy tenure that correlate with fraud probability.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Highlighted severe class imbalance in the dataset (only 8% fraud cases), heavily impacting model detection capability.</a:t>
            </a:r>
          </a:p>
        </p:txBody>
      </p:sp>
    </p:spTree>
    <p:extLst>
      <p:ext uri="{BB962C8B-B14F-4D97-AF65-F5344CB8AC3E}">
        <p14:creationId xmlns:p14="http://schemas.microsoft.com/office/powerpoint/2010/main" val="1130109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4C4E4-AF7F-B715-3064-836821A2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700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D918-E324-DAD7-AA61-93B08D821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3638" y="1600199"/>
            <a:ext cx="4597502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Metadata-driven machine learning offers significant potential in automating vehicle insurance fraud detection.</a:t>
            </a:r>
          </a:p>
          <a:p>
            <a:pPr marL="114300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While initial models performed well at identifying legitimate claims, challenges remain in accurately detecting fraudulent claims due to data imbalance.</a:t>
            </a:r>
          </a:p>
          <a:p>
            <a:pPr marL="114300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Future enhancements, particularly in handling class imbalance and model refinement, could lead to a powerful and scalable fraud detection system.</a:t>
            </a:r>
          </a:p>
          <a:p>
            <a:pPr marL="114300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dirty="0"/>
              <a:t>Overall, the project demonstrates the viability of leveraging metadata and machine learning for improving the speed, accuracy, and efficiency of insurance fraud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225505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1145E-1736-C6E4-2A71-E177B3DB7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Future Scope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19CE0-5C6E-A4B1-7DD3-E722A1282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3638" y="1600199"/>
            <a:ext cx="4597502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Class Imbalance Solutions: Implement techniques like SMOTE (Synthetic Minority Over-sampling Technique) or ADASYN to balance the dataset and improve fraud detection rates.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Advanced Ensemble Methods: Explore more robust algorithms like </a:t>
            </a:r>
            <a:r>
              <a:rPr lang="en-US" sz="1200" dirty="0" err="1"/>
              <a:t>XGBoost</a:t>
            </a:r>
            <a:r>
              <a:rPr lang="en-US" sz="1200" dirty="0"/>
              <a:t>, </a:t>
            </a:r>
            <a:r>
              <a:rPr lang="en-US" sz="1200" dirty="0" err="1"/>
              <a:t>CatBoost</a:t>
            </a:r>
            <a:r>
              <a:rPr lang="en-US" sz="1200" dirty="0"/>
              <a:t>, or </a:t>
            </a:r>
            <a:r>
              <a:rPr lang="en-US" sz="1200" dirty="0" err="1"/>
              <a:t>LightGBM</a:t>
            </a:r>
            <a:r>
              <a:rPr lang="en-US" sz="1200" dirty="0"/>
              <a:t> for better handling of imbalanced classification problems.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Anomaly Detection Techniques: Introduce unsupervised or semi-supervised models (like Isolation Forest, One-Class SVM) which are often effective for rare event detection like fraud.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Metadata Enrichment: Integrate external metadata (e.g., credit history, telematics data) to provide richer context for claims and improve predictive performance.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Real-time Fraud Detection System: Deploy models into production environments for live fraud scoring during claims processing.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Threshold Tuning and Cost-sensitive Learning: Adjust classification thresholds and incorporate cost-sensitive approaches to minimize false negatives (missed frauds).</a:t>
            </a:r>
          </a:p>
        </p:txBody>
      </p:sp>
    </p:spTree>
    <p:extLst>
      <p:ext uri="{BB962C8B-B14F-4D97-AF65-F5344CB8AC3E}">
        <p14:creationId xmlns:p14="http://schemas.microsoft.com/office/powerpoint/2010/main" val="3081113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2164A-41AC-DFB7-5BD8-41C9B083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References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03B99-0F70-ED8A-FC85-4423BC105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8787" y="1228960"/>
            <a:ext cx="4714004" cy="469086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[1] Medicare Fraud Detection Using Random Forest with Class Imbalanced Big Data. (2018, July 1). IEEE Conference Publication | IEEE Xplore. </a:t>
            </a:r>
            <a:r>
              <a:rPr lang="en-US" sz="1200" dirty="0">
                <a:hlinkClick r:id="rId3"/>
              </a:rPr>
              <a:t>https://ieeexplore.ieee.org/abstract/document/8424690</a:t>
            </a:r>
            <a:r>
              <a:rPr lang="en-US" sz="1200" dirty="0"/>
              <a:t> </a:t>
            </a:r>
          </a:p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[2] Ngai, E., Hu, Y., Wong, Y., Chen, Y., &amp; Sun, X. (2010). The application of data mining techniques in financial fraud detection: A classification framework and an academic review of literature. Decision Support Systems, 50(3), 559–569. </a:t>
            </a:r>
            <a:r>
              <a:rPr lang="en-US" sz="1200" dirty="0">
                <a:hlinkClick r:id="rId4"/>
              </a:rPr>
              <a:t>https://doi.org/10.1016/j.dss.2010.08.006</a:t>
            </a:r>
            <a:endParaRPr lang="en-US" sz="1200" dirty="0"/>
          </a:p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[3] </a:t>
            </a:r>
            <a:r>
              <a:rPr lang="en-US" sz="1200" dirty="0" err="1"/>
              <a:t>Asgarian</a:t>
            </a:r>
            <a:r>
              <a:rPr lang="en-US" sz="1200" dirty="0"/>
              <a:t>, A., Saha, R., </a:t>
            </a:r>
            <a:r>
              <a:rPr lang="en-US" sz="1200" dirty="0" err="1"/>
              <a:t>Jakubovitz</a:t>
            </a:r>
            <a:r>
              <a:rPr lang="en-US" sz="1200" dirty="0"/>
              <a:t>, D., &amp; Peyre, J. (2023, January 15). </a:t>
            </a:r>
            <a:r>
              <a:rPr lang="en-US" sz="1200" dirty="0" err="1"/>
              <a:t>AutoFraudNet</a:t>
            </a:r>
            <a:r>
              <a:rPr lang="en-US" sz="1200" dirty="0"/>
              <a:t>: a multimodal network to detect fraud in the auto insurance industry. arXiv.org. </a:t>
            </a:r>
            <a:r>
              <a:rPr lang="en-US" sz="1200" dirty="0">
                <a:hlinkClick r:id="rId5"/>
              </a:rPr>
              <a:t>https://arxiv.org/abs/2301.07526</a:t>
            </a:r>
            <a:endParaRPr lang="en-US" sz="1200" dirty="0"/>
          </a:p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[4] Baran, S., &amp; Rola, P. (2022, April 12). Prediction of motor insurance claims occurrence as an imbalanced machine learning problem. </a:t>
            </a:r>
            <a:r>
              <a:rPr lang="en-US" sz="1200" dirty="0" err="1"/>
              <a:t>arXiv.org.</a:t>
            </a:r>
            <a:r>
              <a:rPr lang="en-US" sz="1200" dirty="0" err="1">
                <a:hlinkClick r:id="rId6"/>
              </a:rPr>
              <a:t>https</a:t>
            </a:r>
            <a:r>
              <a:rPr lang="en-US" sz="1200" dirty="0">
                <a:hlinkClick r:id="rId6"/>
              </a:rPr>
              <a:t>://arxiv.org/abs/2204.06109</a:t>
            </a:r>
            <a:endParaRPr lang="en-US" sz="1200" dirty="0"/>
          </a:p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[5] Óskarsdóttir, M., Ahmed, W., Antonio, K., </a:t>
            </a:r>
            <a:r>
              <a:rPr lang="en-US" sz="1200" dirty="0" err="1"/>
              <a:t>Baesens</a:t>
            </a:r>
            <a:r>
              <a:rPr lang="en-US" sz="1200" dirty="0"/>
              <a:t>, B., </a:t>
            </a:r>
            <a:r>
              <a:rPr lang="en-US" sz="1200" dirty="0" err="1"/>
              <a:t>Dendievel</a:t>
            </a:r>
            <a:r>
              <a:rPr lang="en-US" sz="1200" dirty="0"/>
              <a:t>, R., Donas, T., &amp; </a:t>
            </a:r>
            <a:r>
              <a:rPr lang="en-US" sz="1200" dirty="0" err="1"/>
              <a:t>Reynkens</a:t>
            </a:r>
            <a:r>
              <a:rPr lang="en-US" sz="1200" dirty="0"/>
              <a:t>, T. (2021). Social Network Analytics for supervised fraud detection in insurance. Risk Analysis, 42(8), 1872–1890. </a:t>
            </a:r>
            <a:r>
              <a:rPr lang="en-US" sz="1200" dirty="0">
                <a:hlinkClick r:id="rId7"/>
              </a:rPr>
              <a:t>https://doi.org/10.1111/risa.13693</a:t>
            </a:r>
            <a:endParaRPr lang="en-US" sz="1200" dirty="0"/>
          </a:p>
          <a:p>
            <a:pPr marL="0" indent="0" defTabSz="914400">
              <a:lnSpc>
                <a:spcPct val="110000"/>
              </a:lnSpc>
              <a:spcAft>
                <a:spcPts val="600"/>
              </a:spcAft>
              <a:buSzPct val="100000"/>
              <a:buNone/>
            </a:pPr>
            <a:r>
              <a:rPr lang="en-US" sz="1200" dirty="0"/>
              <a:t>[6] Gangadhar, K. S. N. V. K., Kumar, B. A., Vivek, Y., &amp; Ravi, V. (2022, December 15). Chaotic Variational Auto Encoder based One Class Classifier for Insurance Fraud Detection. arXiv.org. </a:t>
            </a:r>
            <a:r>
              <a:rPr lang="en-US" sz="1200" dirty="0">
                <a:hlinkClick r:id="rId8"/>
              </a:rPr>
              <a:t>https://arxiv.org/abs/2212.07802</a:t>
            </a:r>
            <a:endParaRPr lang="en-US" sz="1200" dirty="0"/>
          </a:p>
          <a:p>
            <a:pPr marL="114300" indent="-228600" defTabSz="914400">
              <a:lnSpc>
                <a:spcPct val="11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589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ank You Note Animation - Free Download Miscellaneous Animations |  IconScout">
            <a:extLst>
              <a:ext uri="{FF2B5EF4-FFF2-40B4-BE49-F238E27FC236}">
                <a16:creationId xmlns:a16="http://schemas.microsoft.com/office/drawing/2014/main" id="{145EA5A5-EC5B-A811-F435-F669ADF4D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82735">
            <a:off x="2756959" y="1453560"/>
            <a:ext cx="3630081" cy="395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2825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222</TotalTime>
  <Words>1938</Words>
  <Application>Microsoft Office PowerPoint</Application>
  <PresentationFormat>On-screen Show (4:3)</PresentationFormat>
  <Paragraphs>173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Gill Sans MT</vt:lpstr>
      <vt:lpstr>Gowun Batang</vt:lpstr>
      <vt:lpstr>Times New Roman</vt:lpstr>
      <vt:lpstr>Gallery</vt:lpstr>
      <vt:lpstr>Metadata-Based Machine Learning Approach for Vehicle Insurance Fraud Detection</vt:lpstr>
      <vt:lpstr>Introduction</vt:lpstr>
      <vt:lpstr>Problem Statement</vt:lpstr>
      <vt:lpstr>Motivation</vt:lpstr>
      <vt:lpstr>Research Questions</vt:lpstr>
      <vt:lpstr>Data Cleaning Process</vt:lpstr>
      <vt:lpstr>PowerPoint Presentation</vt:lpstr>
      <vt:lpstr>Exploratory Data Analysis (EDA)</vt:lpstr>
      <vt:lpstr>PowerPoint Presentation</vt:lpstr>
      <vt:lpstr>Model Performance Summary </vt:lpstr>
      <vt:lpstr>Confusion Matrix</vt:lpstr>
      <vt:lpstr>ROC Curve  </vt:lpstr>
      <vt:lpstr>PowerPoint Presentation</vt:lpstr>
      <vt:lpstr>Project Outcome</vt:lpstr>
      <vt:lpstr>Conclusion</vt:lpstr>
      <vt:lpstr>Future Scope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Sowdhamini Bharadwaj</cp:lastModifiedBy>
  <cp:revision>6</cp:revision>
  <dcterms:created xsi:type="dcterms:W3CDTF">2013-01-27T09:14:16Z</dcterms:created>
  <dcterms:modified xsi:type="dcterms:W3CDTF">2025-05-08T03:13:59Z</dcterms:modified>
  <cp:category/>
</cp:coreProperties>
</file>